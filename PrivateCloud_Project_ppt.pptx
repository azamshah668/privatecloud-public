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1700" y="600000"/>
            <a:ext cx="85206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1E88E5"/>
                </a:solidFill>
                <a:latin typeface="Calibri"/>
              </a:rPr>
              <a:t>Major Project  |  Final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900000"/>
            <a:ext cx="85206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PrivateCloud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 Self-Hosted On-Demand Virtual Machine Provisioning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0" y="2050000"/>
            <a:ext cx="4744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Azam Shah Rizwan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Bilal 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Narsheed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000" y="3500000"/>
            <a:ext cx="47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Guide: [Guide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50000"/>
            <a:ext cx="9144000" cy="4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Department of Information Technology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[University / Institute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000000"/>
            <a:ext cx="7944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1.  Introduction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2.  Problem Statement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3.  Objectives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4.  Scope of the Project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5.  Literature Review / Existing Systems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6.  Proposed System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7.  Methodology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System Architecture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How Proxmox (KVM Hypervisor) Works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Frontend ↔ Backend Communication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Golden Image Creation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8.  Work Done So Far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9.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Cloud computing has become the backbone of modern IT — enabling on-demand access to compute, storage, and networking over the internet.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Public providers such as AWS, Google Cloud, and DigitalOcean offer virtual machines at scale, but organisations with data-sensitivity, cost, or compliance constraints cannot always rely on the public cloud.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 private cloud hosts the same self-service capabilities inside an organisation’s own infrastructure, using a hypervisor to run isolated virtual machines on physical servers.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Our project, PrivateCloud, builds such a self-service platform: a user logs in through a web portal, requests a VM, and the system provisions, tracks, and audits that VM on a physical server running a KVM-based hypervisor (Proxmox VE).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This mirrors how DigitalOcean uses KVM under the hood — the value lies in the management, automation, and user-experience layer built on 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— Cloud Deployment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000" y="1100000"/>
            <a:ext cx="2650000" cy="2600000"/>
          </a:xfrm>
          <a:prstGeom prst="rect">
            <a:avLst/>
          </a:prstGeom>
          <a:solidFill>
            <a:srgbClr val="E8EFF7"/>
          </a:solidFill>
          <a:ln w="19050">
            <a:solidFill>
              <a:srgbClr val="C3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000" y="1180000"/>
            <a:ext cx="265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23C69"/>
                </a:solidFill>
                <a:latin typeface="Calibri"/>
              </a:rPr>
              <a:t>Public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000" y="1530000"/>
            <a:ext cx="26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2556E"/>
                </a:solidFill>
                <a:latin typeface="Calibri"/>
              </a:rPr>
              <a:t>AWS · GCP · Azure · DigitalOcean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000" y="1880000"/>
            <a:ext cx="2650000" cy="1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Pay-as-you-go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Shared infrastructure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Limited data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7000" y="1100000"/>
            <a:ext cx="2650000" cy="2600000"/>
          </a:xfrm>
          <a:prstGeom prst="rect">
            <a:avLst/>
          </a:prstGeom>
          <a:solidFill>
            <a:srgbClr val="DEEBFA"/>
          </a:solidFill>
          <a:ln w="19050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7000" y="1180000"/>
            <a:ext cx="265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23C69"/>
                </a:solidFill>
                <a:latin typeface="Calibri"/>
              </a:rPr>
              <a:t>Private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7000" y="1530000"/>
            <a:ext cx="26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2556E"/>
                </a:solidFill>
                <a:latin typeface="Calibri"/>
              </a:rPr>
              <a:t>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7000" y="1880000"/>
            <a:ext cx="2650000" cy="1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Self-hosted on own servers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Full data &amp; policy control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Cost-predictable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000" y="1100000"/>
            <a:ext cx="2650000" cy="2600000"/>
          </a:xfrm>
          <a:prstGeom prst="rect">
            <a:avLst/>
          </a:prstGeom>
          <a:solidFill>
            <a:srgbClr val="E8EFF7"/>
          </a:solidFill>
          <a:ln w="19050">
            <a:solidFill>
              <a:srgbClr val="C3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7000" y="1180000"/>
            <a:ext cx="265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23C69"/>
                </a:solidFill>
                <a:latin typeface="Calibri"/>
              </a:rPr>
              <a:t>Hybrid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7000" y="1530000"/>
            <a:ext cx="26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2556E"/>
                </a:solidFill>
                <a:latin typeface="Calibri"/>
              </a:rPr>
              <a:t>Public + 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7000" y="1880000"/>
            <a:ext cx="2650000" cy="1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Combines both models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Workload portability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Higher integration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" y="3850000"/>
            <a:ext cx="8144000" cy="6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42556E"/>
                </a:solidFill>
                <a:latin typeface="Calibri"/>
              </a:rPr>
              <a:t>PrivateCloud implements the Infrastructure-as-a-Service (IaaS) layer of a private cloud — abstracting a physical server into many user-owned VMs.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1000000"/>
            <a:ext cx="8144000" cy="900000"/>
          </a:xfrm>
          <a:prstGeom prst="rect">
            <a:avLst/>
          </a:prstGeom>
          <a:solidFill>
            <a:srgbClr val="E8EFF7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000" y="1000000"/>
            <a:ext cx="8024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123C69"/>
                </a:solidFill>
                <a:latin typeface="Calibri"/>
              </a:rPr>
              <a:t>“How can we provide an easy-to-use, secure, self-service platform that lets users provision and manage virtual machines on an organisation’s own hardware — without them needing to understand the underlying hypervisor?”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050000"/>
            <a:ext cx="8144000" cy="26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Running a hypervisor directly (raw KVM / libvirt / virt-manager) requires Linux admin expertise — unusable by most end-users.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There is no built-in concept of users, quotas, or audit trails at the hypervisor level — each request would be a manual ticket to an admin.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Organisations want cloud ergonomics (click a button → get a VM) but cannot always move workloads to a public provider for cost, privacy, or regulatory reasons.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Existing open-source cloud stacks (OpenStack, CloudStack) solve this but are heavyweight and over-engineered for small to mid-sized deployments.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Design and implement a web-based self-service portal for on-demand VM provisioning on a KVM-based hypervisor.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Build a secure REST API (FastAPI) that authenticates users with JWT and authorises every VM operation against role-based permissions.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Integrate with the hypervisor through its API so that create / start / stop / delete operations on VMs are fully automated — no manual SSH access.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Introduce cloud-style abstractions missing at the hypervisor level: users, roles (user / admin), daily provisioning quotas, and an immutable audit log.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Use a pre-configured golden image so that every provisioned VM boots in seconds with a known-good OS template, SSH keys, and cloud-init.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Deliver a modern React + TypeScript frontend (Aether Cloud Orchestrator UI) that hides all hypervisor complexity from the end-user.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Scope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7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User registration &amp; JWT login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VM lifecycle: create / list / get / start / stop / delete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Admin panel: user management, audit log, settings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Per-user daily VM creation quota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Immutable audit log of every privileged action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Single-node Proxmox VE server as the KVM hypervisor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Postgres 16 for persistence (no ORM, raw psycopg2)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Docker Compose based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23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solidFill>
            <a:srgbClr val="E6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3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Multi-tenancy billing / metered billing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High-availability multi-node hypervisor clustering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Software-defined networking (custom VPC, overlay nets)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Block-storage as a separate service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Container orchestration (Kubernetes as a service)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Marketplace of pre-built application images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Public-cloud style global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Literature Review —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0000" y="1000000"/>
          <a:ext cx="86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350000"/>
                <a:gridCol w="1700000"/>
                <a:gridCol w="2150000"/>
                <a:gridCol w="2000000"/>
              </a:tblGrid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Hypervisor / Tech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Limitations for us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DigitalOcean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Public IaaS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+ custom stack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Simple UX, one-click droplets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Public cloud; data leaves premises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AWS EC2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Public IaaS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Nitro / KVM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Huge feature set, global scale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High cost &amp; complexity; overkill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OpenStack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Open-source IaaS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+ many services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Full cloud stack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Very heavy; &gt;10 services to operate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Apache CloudStack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Open-source IaaS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/ XenServer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Proven, multi-tenant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Steep learning curve; Java stack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Raw libvirt / KVM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Hypervisor tool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Lightweight, simple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 users, quotas, audit, or portal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PrivateCloud (ours)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Self-hosted IaaS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via Proxmox VE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Minimal, portal + API, audit, quotas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Single-node scope (by design)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 three-tier private cloud platform: Frontend (React) → Backend API (FastAPI) → Hypervisor (Proxmox VE / KVM) with PostgreSQL as the system of record.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The backend is the only component that talks to the hypervisor — users never see Proxmox, SSH, or libvirt. The API is the single trusted boundary.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All VM operations are authorised (JWT + role check), validated (Pydantic schemas), executed (via the hypervisor API), persisted (Postgres), and audit-logged — atomically inside one request.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Pre-baked golden image + cloud-init make VMs ready in seconds, just like DigitalOcean droplets — no manual OS install per VM.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Entire platform is deployable with docker-compose up on a single physical server, making it practical for labs, SMEs, and academic institutions.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Proposed System — High-Level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0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0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User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Browser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68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68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Frontend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React + Vite + 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3600" y="1150000"/>
            <a:ext cx="1576800" cy="700000"/>
          </a:xfrm>
          <a:prstGeom prst="rect">
            <a:avLst/>
          </a:prstGeom>
          <a:solidFill>
            <a:srgbClr val="DEEBFA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36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Backend API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FastAPI (Python)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04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04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Hypervisor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Proxmox VE (KVM)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72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72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VMs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Ubuntu / Debian guests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868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236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604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972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83600" y="2200000"/>
            <a:ext cx="1576800" cy="60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3600" y="2200000"/>
            <a:ext cx="1576800" cy="6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PostgreSQL 16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users · vms · audit · quotas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1850000"/>
            <a:ext cx="0" cy="35000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668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HTTPS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36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REST /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04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HTTPS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72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QEMU-KVM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00" y="3900000"/>
            <a:ext cx="81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42556E"/>
                </a:solidFill>
                <a:latin typeface="Calibri"/>
              </a:rPr>
              <a:t>Every VM request flows through a single authorised path: user → portal → API → Proxmox → VM. Nothing bypasses the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Backend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000" y="1000000"/>
            <a:ext cx="3800000" cy="50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" y="100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Route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" y="100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auth_routes · vm_routes · admin_routes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000" y="1570000"/>
            <a:ext cx="3800000" cy="50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000" y="157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Service /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00" y="157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JWT auth · quota check · audit writer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000" y="2140000"/>
            <a:ext cx="3800000" cy="500000"/>
          </a:xfrm>
          <a:prstGeom prst="rect">
            <a:avLst/>
          </a:prstGeom>
          <a:solidFill>
            <a:srgbClr val="337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000" y="214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Hypervisor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000" y="214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proxmox_client.py  (REST calls)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000" y="2710000"/>
            <a:ext cx="3800000" cy="500000"/>
          </a:xfrm>
          <a:prstGeom prst="rect">
            <a:avLst/>
          </a:prstGeom>
          <a:solidFill>
            <a:srgbClr val="5A8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000" y="271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000" y="271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database.py  (raw psycopg2 pool)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000" y="3280000"/>
            <a:ext cx="3800000" cy="50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000" y="328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000" y="328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users · vms · audit_log · quotas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0000" y="1000000"/>
            <a:ext cx="4584000" cy="35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FastAPI exposes routes under /auth, /vms, and /admin.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Each route depends on get_current_user() which validates the JWT and loads the caller from Postgres.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VM routes call proxmox_client — the only module allowed to talk to the hypervisor API.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Writes to Postgres use a ThreadedConnectionPool (psycopg2) — no ORM, full SQL control.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Every privileged operation appends a row to audit_log in the same transaction, so the log can never fall out of sync.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Pydantic models validate every request/response body, giving automatic OpenAPI docs at /docs.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How the KVM Hypervisor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3100000"/>
            <a:ext cx="3700000" cy="50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310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Physical Server (CPU · RAM · Disks · NIC)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2550000"/>
            <a:ext cx="3700000" cy="50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255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Linux Kernel + KVM module  (virtualisation support)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2000000"/>
            <a:ext cx="3700000" cy="500000"/>
          </a:xfrm>
          <a:prstGeom prst="rect">
            <a:avLst/>
          </a:prstGeom>
          <a:solidFill>
            <a:srgbClr val="337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200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QEMU user-space emulator per VM (virtual CPU, disk, NIC)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1450000"/>
            <a:ext cx="3700000" cy="500000"/>
          </a:xfrm>
          <a:prstGeom prst="rect">
            <a:avLst/>
          </a:prstGeom>
          <a:solidFill>
            <a:srgbClr val="5A8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145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Guest OS  — Ubuntu / Debian / etc.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1000000"/>
            <a:ext cx="443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KVM (Kernel-based Virtual Machine) is a Linux kernel module that turns the host kernel into a type-1-style hypervisor.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QEMU creates one user-space process per VM; KVM provides the hardware acceleration (Intel VT-x / AMD-V) so the guest runs at near-native speed.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Proxmox VE packages KVM + QEMU + management tooling and exposes a REST API we can call programmatically.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Just like DigitalOcean’s hypervisor fleet runs KVM under the hood, we run KVM through Proxmox VE — the difference is only the management layer around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Our backend never touches QEMU directly — it calls the hypervisor API: “create a VM with these specs on this node from this template.”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Frontend ↔ Backend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000" y="1050000"/>
            <a:ext cx="1850000" cy="70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React UI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Vite + TS + Tailwind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2000" y="1400000"/>
            <a:ext cx="10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72000" y="1050000"/>
            <a:ext cx="18500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API Client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fetch / axios · JWT header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2000" y="1400000"/>
            <a:ext cx="10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622000" y="1050000"/>
            <a:ext cx="1850000" cy="70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FastAPI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validate · authorise · dispatch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72000" y="1400000"/>
            <a:ext cx="10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572000" y="1050000"/>
            <a:ext cx="18500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Postgres / Proxmox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persist · provision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" y="2000000"/>
            <a:ext cx="8144000" cy="28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1 — User fills a form (e.g. “create VM”) in the React UI.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2 — API client sends a JSON request to the FastAPI backend, attaching the JWT from localStorage as an Authorization: Bearer header.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3 — FastAPI validates the body with Pydantic, decodes the JWT, loads the user, and checks the user’s role + remaining daily quota.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4 — If allowed, the backend calls the hypervisor API to create the VM from the golden image, writes a row into the vms table, and appends an entry to audit_log — all inside one DB transaction.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5 — The backend returns a JSON response; React updates the dashboard in real time and the new VM appears in the user’s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Golden Image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Base OS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Ubuntu 22.04 ISO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Install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Minimal packages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Harden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Users, SSH, firewall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cloud-init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First-boot config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0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Template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Convert to template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407000" y="1050000"/>
            <a:ext cx="1330000" cy="640000"/>
          </a:xfrm>
          <a:prstGeom prst="rect">
            <a:avLst/>
          </a:prstGeom>
          <a:solidFill>
            <a:srgbClr val="DEEBFA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Linked Clone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New VM = instant clone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2000000"/>
            <a:ext cx="8144000" cy="28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Why a golden image? — Installing an OS per VM from an ISO takes 15–20 minutes. We do it once, then clone.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1 — Install Ubuntu 22.04 on a base VM with only the packages we actually need (qemu-guest-agent, openssh-server, curl).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2 — Harden the image: disable root password login, preload the admin SSH public key, set time-zone, enable the firewall.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3 — Install and enable cloud-init. On first boot cloud-init reads metadata (hostname, SSH key, user) injected by the hypervisor and configures the VM in seconds.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4 — Convert the base VM into a template. New VMs are created as linked clones of this template — provisioning time drops from minutes to a few seconds, exactly like DigitalOcean droplets.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Hardware &amp; Software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7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Software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Backend — Python 3.12 + FastAPI 0.110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Database — PostgreSQL 16 (psycopg2, no ORM)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Frontend — React 18 + Vite + TypeScript + Tailwind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Auth — JWT (PyJWT), bcrypt password hashing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Hypervisor — Proxmox VE (KVM-based)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Infra — Docker · Docker Compose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Tooling — Pydantic v2, uvicorn, cloud-init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Dev — Git, GitHub Actions, VS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23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Hardware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3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Host Server — x86-64 CPU with VT-x / AMD-V enabled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Minimum: 4 cores, 16 GB RAM, 256 GB SSD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Recommended: 8+ cores, 32 GB RAM, 1 TB NVMe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Networking — 1 Gbps NIC, static IP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Client — any modern browser (Chrome / Edge / Firefox)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Development — laptop with Docker Desktop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Optional — second disk for VM storage pool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 Done So Far — Sprint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0000" y="1000000"/>
          <a:ext cx="84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4400000"/>
                <a:gridCol w="1900000"/>
              </a:tblGrid>
              <a:tr h="2692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36000" marR="36000" marT="14000" marB="1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36000" marR="36000" marT="14000" marB="1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36000" marR="36000" marT="14000" marB="14000">
                    <a:solidFill>
                      <a:srgbClr val="123C69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Register / Login / JWT issue &amp; validate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Role-based access (user / admin)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VM Management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Create / List / Get VM via hypervisor API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VM Management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Start / Stop / Delete VM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VM Management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Per-user daily quota enforcement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Immutable audit log on every privileged op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Admin Panel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User management UI + audit viewer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Admin Panel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Settings page (quota config)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69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Aether Cloud Orchestrator — full UI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Docker Compose bring-up, schema on startup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Golden Image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Ubuntu 22.04 template with cloud-init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69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CPU / RAM / disk metrics per VM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2556E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 Done So Far — Feature Snapshots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000" y="105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000" y="105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Secure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000" y="141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Register, login, role-based guards on every endpoint.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000" y="105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72000" y="105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VM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Create · Start · Stop ·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2000" y="141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Full CRUD against the hypervisor API from the portal.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000" y="280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000" y="280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Daily Quota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Per-user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000" y="316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Rate-limits how many VMs a user can create per day, prevents abuse.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72000" y="280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2000" y="280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Every action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2000" y="316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Immutable table in Postgres — admin can inspect who did what, when.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Expected Outcomes &amp;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23C69"/>
                </a:solidFill>
                <a:latin typeface="Calibri"/>
              </a:rPr>
              <a:t>Expected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350000"/>
            <a:ext cx="8144000" cy="15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 working, self-hosted VM-provisioning platform deployable on one server.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End-to-end automation: portal → API → hypervisor → running VM in seconds.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Measurable: sub-minute provisioning time, full audit coverage, zero manual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950000"/>
            <a:ext cx="81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23C69"/>
                </a:solidFill>
                <a:latin typeface="Calibri"/>
              </a:rP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300000"/>
            <a:ext cx="8144000" cy="15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University / college labs that need disposable student VMs on demand.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SMEs that cannot (or do not want to) move workloads to the public cloud.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DevOps test environments — spin up a throwaway VM, run CI, tear it down.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Research groups handling sensitive data that must stay on-premises.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1000000"/>
            <a:ext cx="83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1.  Armbrust, M. et al. (2010). A view of cloud computing. Communications of the ACM, 53(4), 50–58.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2.  Mell, P., &amp; Grance, T. (2011). The NIST Definition of Cloud Computing. NIST Special Publication 800-145.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3.  Kivity, A., Kamay, Y., Laor, D., Lublin, U., &amp; Liguori, A. (2007). KVM: the Linux Virtual Machine Monitor. Proceedings of the Linux Symposium.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4.  Bellard, F. (2005). QEMU, a Fast and Portable Dynamic Translator. USENIX Annual Technical Conference.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5.  Sefraoui, O., Aissaoui, M., &amp; Eleuldj, M. (2012). OpenStack: Toward an Open-Source Solution for Cloud Computing. International Journal of Computer Applications, 55(3), 38–42.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6.  Proxmox Server Solutions GmbH. Proxmox VE Administration Guide (latest). https://pve.proxmox.com/pve-docs/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 (contd.)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1000000"/>
            <a:ext cx="83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7.  Canonical Ltd. cloud-init Documentation. https://cloudinit.readthedocs.io/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8.  Tiangolo, S. FastAPI — Modern, fast web framework for building APIs with Python. https://fastapi.tiangolo.com/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9.  PostgreSQL Global Development Group. PostgreSQL 16 Documentation. https://www.postgresql.org/docs/16/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10. Jones, M., Bradley, J., &amp; Sakimura, N. (2015). JSON Web Token (JWT). RFC 7519, IETF.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11. Provos, N., &amp; Mazières, D. (1999). A Future-Adaptable Password Scheme (bcrypt). USENIX Annual Technical Conference.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12. Merkel, D. (2014). Docker: Lightweight Linux Containers for Consistent Development and Deployment. Linux Journal, 2014(239).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13. Sotomayor, B., Montero, R. S., Llorente, I. M., &amp; Foster, I. (2009). Virtual Infrastructure Management in Private and Hybrid Clouds. IEEE Internet Computing, 13(5), 14–22.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0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1700" y="1500000"/>
            <a:ext cx="85206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2700000"/>
            <a:ext cx="8520600" cy="4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0">
                <a:solidFill>
                  <a:srgbClr val="1E88E5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