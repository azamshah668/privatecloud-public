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75" r:id="rId9"/>
    <p:sldId id="273" r:id="rId10"/>
    <p:sldId id="263" r:id="rId11"/>
    <p:sldId id="264" r:id="rId12"/>
    <p:sldId id="278" r:id="rId13"/>
    <p:sldId id="277" r:id="rId14"/>
    <p:sldId id="265" r:id="rId15"/>
    <p:sldId id="266" r:id="rId16"/>
    <p:sldId id="267" r:id="rId17"/>
    <p:sldId id="268" r:id="rId18"/>
    <p:sldId id="274" r:id="rId19"/>
    <p:sldId id="271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E9AA0E-B11A-1577-01DD-03505BA3B880}" v="411" dt="2026-04-21T18:36:43.653"/>
  </p1510:revLst>
</p1510:revInfo>
</file>

<file path=ppt/tableStyles.xml><?xml version="1.0" encoding="utf-8"?>
<a:tblStyleLst xmlns:a="http://schemas.openxmlformats.org/drawingml/2006/main" def="{2AB51E5F-F104-4627-A16E-FEC4EA0412FA}">
  <a:tblStyle styleId="{2AB51E5F-F104-4627-A16E-FEC4EA0412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029e74d70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029e74d70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029e74d7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029e74d7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029e74d7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029e74d70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029e74d70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029e74d70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029e74d70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029e74d70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029e74d70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029e74d70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029e74d7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029e74d70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46275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029e74d7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029e74d70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0367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029e74d70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029e74d70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029e74d70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029e74d70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029e74d70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029e74d70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57506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BA4334B9-136B-5BC5-6D3C-98681FD07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029e74d70_0_266:notes">
            <a:extLst>
              <a:ext uri="{FF2B5EF4-FFF2-40B4-BE49-F238E27FC236}">
                <a16:creationId xmlns:a16="http://schemas.microsoft.com/office/drawing/2014/main" id="{FB17A21A-8DF0-C74B-1DE5-F754B7E37C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029e74d70_0_266:notes">
            <a:extLst>
              <a:ext uri="{FF2B5EF4-FFF2-40B4-BE49-F238E27FC236}">
                <a16:creationId xmlns:a16="http://schemas.microsoft.com/office/drawing/2014/main" id="{E5A71E54-749C-A9FB-E6C1-E0F3018AD3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4420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029e74d7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029e74d7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029e74d7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029e74d7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029e74d70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029e74d70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029e74d70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029e74d70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029e74d70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029e74d70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83203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029e74d70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029e74d70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49156034_Passive_Shallow_Water_Automated_Target_Recognition_using_Deep_Convolutional_Bi_directional_Long_Short_Term_Memory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ubmed.ncbi.nlm.nih.gov/37430832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077-1312/11/8/1626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://dx.doi.org/10.2139/ssrn.6097179" TargetMode="External"/><Relationship Id="rId4" Type="http://schemas.openxmlformats.org/officeDocument/2006/relationships/hyperlink" Target="https://www.techrxiv.org/doi/full/10.36227/techrxiv.23915418.v2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546350" y="1625600"/>
            <a:ext cx="3771900" cy="9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Mohmmad Akeeb (2224CUKmr30)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Bashee Bilal (2224CUKmr42)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Wikis Khursheed (2224CUKmr39)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6621" y="3016350"/>
            <a:ext cx="1230756" cy="12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14300" y="406400"/>
            <a:ext cx="88647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8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Temporal Modeling for Passive Sonar</a:t>
            </a:r>
            <a:endParaRPr sz="28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Bearing Estimation using a Hybrid CNN-GRU Network</a:t>
            </a:r>
            <a:endParaRPr sz="28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346500" y="2571750"/>
            <a:ext cx="24003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Guide:</a:t>
            </a: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Dr. Yash Paul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216100" y="4267200"/>
            <a:ext cx="47118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 University of Kashmir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Index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530200" cy="37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❏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❏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❏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❏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Scope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❏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❏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>
              <a:lnSpc>
                <a:spcPct val="114999"/>
              </a:lnSpc>
              <a:buSzPts val="2000"/>
              <a:buFont typeface="Times New Roman"/>
              <a:buChar char="❏"/>
            </a:pPr>
            <a:r>
              <a:rPr lang="en-GB" sz="2000">
                <a:latin typeface="Times New Roman"/>
                <a:ea typeface="Times New Roman"/>
                <a:cs typeface="Times New Roman"/>
              </a:rPr>
              <a:t>Dataset</a:t>
            </a:r>
            <a:endParaRPr lang="en-GB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❏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Hardware &amp; Software Requirements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❏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Project Timeline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❏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Expected Outcomes &amp; Applications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❏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References &amp; Q&amp;A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520599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285750" indent="-285750" algn="just"/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The ocean is one of the most strategically important and least visible environments. Threats beneath the surface are difficult to detect without the right technology.</a:t>
            </a:r>
          </a:p>
          <a:p>
            <a:pPr marL="285750" indent="-285750" algn="just"/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Passive sonar is a listening system used by submarines and naval vessels to detect nearby underwater threats without revealing their own position by emitting signals.</a:t>
            </a:r>
          </a:p>
          <a:p>
            <a:pPr marL="285750" indent="-285750" algn="just"/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The key task in passive sonar is Target Bearing Estimation, figuring out which direction a sound is coming from, using an array of underwater microphones called hydrophones.</a:t>
            </a:r>
          </a:p>
          <a:p>
            <a:pPr marL="285750" indent="-285750" algn="just"/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Deep learning has recently shown strong potential for this task, but existing methods struggle with heavy ocean noise, weak signals at certain angles, and high computational cost.</a:t>
            </a:r>
          </a:p>
          <a:p>
            <a:pPr marL="285750" indent="-285750" algn="just"/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This project develops a lightweight deep learning model that accurately estimates target bearing in real time, even under severe noise conditions.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2E2E29-3695-0D24-08AC-7078AAA27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601"/>
            <a:ext cx="9144000" cy="390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897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40077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ctr">
              <a:buClr>
                <a:schemeClr val="dk1"/>
              </a:buClr>
              <a:buSzPts val="1100"/>
              <a:buNone/>
            </a:pPr>
            <a:r>
              <a:rPr lang="en-US" b="1" i="1" dirty="0">
                <a:latin typeface="Times New Roman"/>
                <a:ea typeface="Times New Roman"/>
                <a:cs typeface="Times New Roman"/>
                <a:sym typeface="Times New Roman"/>
              </a:rPr>
              <a:t>“How can a passive sonar system accurately identify the direction of an underwater </a:t>
            </a: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threat in real-time on low-power hardware, when both the target signal and noise have broad band characteristics?”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b="1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buClr>
                <a:schemeClr val="dk1"/>
              </a:buClr>
              <a:buSzPts val="1100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Underwater environments are filled with noise from</a:t>
            </a:r>
            <a:r>
              <a:rPr lang="en-U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propellers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  marine life, and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water currents, making it extremely difficult to isolate a target's acoustic signal.</a:t>
            </a:r>
          </a:p>
          <a:p>
            <a:pPr marL="285750" indent="-285750" algn="just">
              <a:buClr>
                <a:schemeClr val="dk1"/>
              </a:buClr>
              <a:buSzPts val="1100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Even when a signal is detected, determining its exact direction is hard, especially when the target is nearly in front of or behind the array called the end-fire region (0°–30° and 150°–180°), where the sensors become almost blind.</a:t>
            </a:r>
          </a:p>
          <a:p>
            <a:pPr marL="285750" indent="-285750" algn="just">
              <a:buClr>
                <a:schemeClr val="dk1"/>
              </a:buClr>
              <a:buSzPts val="1100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Current deep learning solutions either treat the signal as a static image losing critical time-based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information, or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rely on heavy preprocessing steps that are too slow for real-time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To develop a Hybrid CNN-GRU architecture that processes raw sonar time-series data directly, without requiring any external preprocessing or denoising.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To model the temporal evolution of acoustic signals using Gated Recurrent Units, enabling the system to track a target's trajectory across time rather than analyzing isolated snapshots.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To achieve robust bearing estimation in end-fire regions (0°–30° and 150°–180°) where conventional and existing deep learning methods fail.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To design a lightweight model with linear computational complexity O(T), suitable for real-time deployment on resource-constrained edge sonar platforms.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To outperform existing CNN and CRNN baselines in terms of overall accuracy and end-fire accuracy.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Scope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Single-target bearing estimation from 0° to 180°.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Synthesized wideband sonar data 32-channel, 4096 samples.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Classification into 181 bearing classes Δ = 1° resolution.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Font typeface="Times New Roman"/>
              <a:buChar char="●"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Python / </a:t>
            </a:r>
            <a:r>
              <a:rPr lang="en-GB" dirty="0" err="1">
                <a:latin typeface="Times New Roman"/>
                <a:ea typeface="Times New Roman"/>
                <a:cs typeface="Times New Roman"/>
                <a:sym typeface="Times New Roman"/>
              </a:rPr>
              <a:t>PyTorch</a:t>
            </a: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 implementation.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Edge-deployable model profiling.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Outside Scope: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Multi-target simultaneous tracking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Real-world field-recorded datasets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232325" y="286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09250D-B3EF-7BFA-D0D0-9FBD5A3A1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207955"/>
              </p:ext>
            </p:extLst>
          </p:nvPr>
        </p:nvGraphicFramePr>
        <p:xfrm>
          <a:off x="342000" y="1154130"/>
          <a:ext cx="8460000" cy="3703095"/>
        </p:xfrm>
        <a:graphic>
          <a:graphicData uri="http://schemas.openxmlformats.org/drawingml/2006/table">
            <a:tbl>
              <a:tblPr/>
              <a:tblGrid>
                <a:gridCol w="1692000">
                  <a:extLst>
                    <a:ext uri="{9D8B030D-6E8A-4147-A177-3AD203B41FA5}">
                      <a16:colId xmlns:a16="http://schemas.microsoft.com/office/drawing/2014/main" val="3223382430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889840032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1261554309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612854088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957620773"/>
                    </a:ext>
                  </a:extLst>
                </a:gridCol>
              </a:tblGrid>
              <a:tr h="150791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Contributions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988878"/>
                  </a:ext>
                </a:extLst>
              </a:tr>
              <a:tr h="1269588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Kamal et al., 2021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passive sonar target classification in shallow waters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/>
                          <a:cs typeface="Times New Roman"/>
                        </a:rPr>
                        <a:t>End-to-end deep learning using </a:t>
                      </a:r>
                      <a:r>
                        <a:rPr lang="en-US" sz="1200" b="1" dirty="0">
                          <a:latin typeface="Times New Roman"/>
                          <a:cs typeface="Times New Roman"/>
                        </a:rPr>
                        <a:t>1D CNN + 2D CNN + </a:t>
                      </a:r>
                      <a:r>
                        <a:rPr lang="en-US" sz="1200" b="1" dirty="0" err="1">
                          <a:latin typeface="Times New Roman"/>
                          <a:cs typeface="Times New Roman"/>
                        </a:rPr>
                        <a:t>BiLSTM</a:t>
                      </a:r>
                      <a:r>
                        <a:rPr lang="en-US" sz="1200" dirty="0">
                          <a:latin typeface="Times New Roman"/>
                          <a:cs typeface="Times New Roman"/>
                        </a:rPr>
                        <a:t> with attention; learnable </a:t>
                      </a:r>
                      <a:r>
                        <a:rPr lang="en-US" sz="1200" dirty="0" err="1">
                          <a:latin typeface="Times New Roman"/>
                          <a:cs typeface="Times New Roman"/>
                        </a:rPr>
                        <a:t>filterbanks</a:t>
                      </a:r>
                      <a:r>
                        <a:rPr lang="en-US" sz="1200" dirty="0">
                          <a:latin typeface="Times New Roman"/>
                          <a:cs typeface="Times New Roman"/>
                        </a:rPr>
                        <a:t> on raw signals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/>
                          <a:cs typeface="Times New Roman"/>
                        </a:rPr>
                        <a:t>Eliminate manual feature engineering; captures </a:t>
                      </a:r>
                      <a:r>
                        <a:rPr lang="en-US" sz="1200" dirty="0" err="1">
                          <a:latin typeface="Times New Roman"/>
                          <a:cs typeface="Times New Roman"/>
                        </a:rPr>
                        <a:t>spectro</a:t>
                      </a:r>
                      <a:r>
                        <a:rPr lang="en-US" sz="1200" dirty="0">
                          <a:latin typeface="Times New Roman"/>
                          <a:cs typeface="Times New Roman"/>
                        </a:rPr>
                        <a:t>-temporal patterns; achieves ~95.2% accuracy on real dataset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complexity; requires large dataset; limited real-time feasibility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184382"/>
                  </a:ext>
                </a:extLst>
              </a:tr>
              <a:tr h="1020967"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Kamal et al., 2021 (Jan)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 NCATR performance under shallow water variability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soft attention; spectrogram/log-spectrogram inputs; recursive model elimination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feature extraction; improved temporal modeling; reduced hyperparameter search cost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Still relies on transformed inputs; computational overhead; sensitivity to noise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068177"/>
                  </a:ext>
                </a:extLst>
              </a:tr>
              <a:tr h="1020967"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Xie &amp; Wang, 2023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DOA estimation accuracy under low SNR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+ Attention and Transformer-based models on time-series AVS data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Preserves temporal structure; outperforms MUSIC; Transformer improves efficiency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training cost; risk of overfitting; requires large training data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695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159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232325" y="286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F95F25-509D-5B55-F4F8-62729C54E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83438"/>
              </p:ext>
            </p:extLst>
          </p:nvPr>
        </p:nvGraphicFramePr>
        <p:xfrm>
          <a:off x="441012" y="1213859"/>
          <a:ext cx="8103225" cy="2715781"/>
        </p:xfrm>
        <a:graphic>
          <a:graphicData uri="http://schemas.openxmlformats.org/drawingml/2006/table">
            <a:tbl>
              <a:tblPr/>
              <a:tblGrid>
                <a:gridCol w="1620645">
                  <a:extLst>
                    <a:ext uri="{9D8B030D-6E8A-4147-A177-3AD203B41FA5}">
                      <a16:colId xmlns:a16="http://schemas.microsoft.com/office/drawing/2014/main" val="3223382430"/>
                    </a:ext>
                  </a:extLst>
                </a:gridCol>
                <a:gridCol w="1620645">
                  <a:extLst>
                    <a:ext uri="{9D8B030D-6E8A-4147-A177-3AD203B41FA5}">
                      <a16:colId xmlns:a16="http://schemas.microsoft.com/office/drawing/2014/main" val="889840032"/>
                    </a:ext>
                  </a:extLst>
                </a:gridCol>
                <a:gridCol w="1620645">
                  <a:extLst>
                    <a:ext uri="{9D8B030D-6E8A-4147-A177-3AD203B41FA5}">
                      <a16:colId xmlns:a16="http://schemas.microsoft.com/office/drawing/2014/main" val="1261554309"/>
                    </a:ext>
                  </a:extLst>
                </a:gridCol>
                <a:gridCol w="1620645">
                  <a:extLst>
                    <a:ext uri="{9D8B030D-6E8A-4147-A177-3AD203B41FA5}">
                      <a16:colId xmlns:a16="http://schemas.microsoft.com/office/drawing/2014/main" val="612854088"/>
                    </a:ext>
                  </a:extLst>
                </a:gridCol>
                <a:gridCol w="1620645">
                  <a:extLst>
                    <a:ext uri="{9D8B030D-6E8A-4147-A177-3AD203B41FA5}">
                      <a16:colId xmlns:a16="http://schemas.microsoft.com/office/drawing/2014/main" val="3957620773"/>
                    </a:ext>
                  </a:extLst>
                </a:gridCol>
              </a:tblGrid>
              <a:tr h="150791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Contributions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988878"/>
                  </a:ext>
                </a:extLst>
              </a:tr>
              <a:tr h="896656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 et al., 2023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underwater acoustic target recognition accuracy and efficiency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Residual Attention CNN (DRACNN) using time-domain signals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 (97.1%); reduced parameters; good generalization across datasets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complexity still non-trivial; depends on labeled datasets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591092"/>
                  </a:ext>
                </a:extLst>
              </a:tr>
              <a:tr h="772345"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Akbarian &amp; Sedaaghi, 2025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 efficient UATR with balanced accuracy and speed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Spectrogram + Modified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CNN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architecture; high accuracy (~97.37%); reduced complexity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 loss due to spectrogram conversion; requires preprocessing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341989"/>
                  </a:ext>
                </a:extLst>
              </a:tr>
              <a:tr h="648034"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NN (2025)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 computational complexity in sonar classification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neural network with spectral features + non-coherent integration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complexity; works with small datasets; robust to noise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sacrifice advanced feature learning; limited scalability for complex scenarios</a:t>
                      </a:r>
                    </a:p>
                  </a:txBody>
                  <a:tcPr marL="35710" marR="35710" marT="17855" marB="178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51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6665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7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Hybrid CNN-GRU Architecture: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Combines Convolutional Neural Networks (CNNs) with Gated Recurrent Units (GRUs).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2E8822-1258-126A-8EC0-D40312290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777" y="1681864"/>
            <a:ext cx="5535792" cy="31135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Spatial-Temporal Modeling: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CNN Module: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Extracts high-level spatial features from noisy hydrophone array data.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GRU Module: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Captures the temporal dependencies and continuous trajectory of the moving target.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3250" y="839925"/>
            <a:ext cx="422904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596851-1498-D087-6831-9D34151ED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13" y="1113957"/>
            <a:ext cx="7475034" cy="382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378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17B8CF9A-D80B-3CAE-4C2B-33EF91B0F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4BD4C329-6BCA-56A9-5644-D767A7EFD0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1">
            <a:extLst>
              <a:ext uri="{FF2B5EF4-FFF2-40B4-BE49-F238E27FC236}">
                <a16:creationId xmlns:a16="http://schemas.microsoft.com/office/drawing/2014/main" id="{02B99412-005C-1B4A-82FA-15EADE990F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19149" cy="1067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lnSpc>
                <a:spcPct val="114999"/>
              </a:lnSpc>
            </a:pPr>
            <a:r>
              <a:rPr lang="en-GB" sz="1400">
                <a:latin typeface="Times New Roman"/>
                <a:cs typeface="Times New Roman"/>
              </a:rPr>
              <a:t>Real ocean data is limited → synthetic data generation is used.</a:t>
            </a:r>
            <a:endParaRPr lang="en-US" sz="1400"/>
          </a:p>
          <a:p>
            <a:pPr marL="285750" indent="-285750">
              <a:lnSpc>
                <a:spcPct val="114999"/>
              </a:lnSpc>
            </a:pPr>
            <a:r>
              <a:rPr lang="en-GB" sz="1400" b="1">
                <a:latin typeface="Times New Roman"/>
                <a:cs typeface="Times New Roman"/>
              </a:rPr>
              <a:t>NB signals:</a:t>
            </a:r>
            <a:r>
              <a:rPr lang="en-GB" sz="1400">
                <a:latin typeface="Times New Roman"/>
                <a:cs typeface="Times New Roman"/>
              </a:rPr>
              <a:t> tonal components (fixed frequencies).</a:t>
            </a:r>
            <a:endParaRPr lang="en-GB" sz="1400"/>
          </a:p>
          <a:p>
            <a:pPr marL="285750" indent="-285750">
              <a:lnSpc>
                <a:spcPct val="114999"/>
              </a:lnSpc>
            </a:pPr>
            <a:r>
              <a:rPr lang="en-GB" sz="1400" b="1">
                <a:latin typeface="Times New Roman"/>
                <a:cs typeface="Times New Roman"/>
              </a:rPr>
              <a:t>WB signals:</a:t>
            </a:r>
            <a:r>
              <a:rPr lang="en-GB" sz="1400">
                <a:latin typeface="Times New Roman"/>
                <a:cs typeface="Times New Roman"/>
              </a:rPr>
              <a:t> combination of modulated + tonal components.</a:t>
            </a:r>
            <a:endParaRPr lang="en-GB" sz="1400"/>
          </a:p>
        </p:txBody>
      </p:sp>
      <p:pic>
        <p:nvPicPr>
          <p:cNvPr id="3" name="Picture 2" descr="A math symbols on a white background">
            <a:extLst>
              <a:ext uri="{FF2B5EF4-FFF2-40B4-BE49-F238E27FC236}">
                <a16:creationId xmlns:a16="http://schemas.microsoft.com/office/drawing/2014/main" id="{18CEF7B0-1445-D898-C991-D80E3E553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835" y="2226349"/>
            <a:ext cx="3100193" cy="1184014"/>
          </a:xfrm>
          <a:prstGeom prst="rect">
            <a:avLst/>
          </a:prstGeom>
        </p:spPr>
      </p:pic>
      <p:sp>
        <p:nvSpPr>
          <p:cNvPr id="5" name="Google Shape;107;p21">
            <a:extLst>
              <a:ext uri="{FF2B5EF4-FFF2-40B4-BE49-F238E27FC236}">
                <a16:creationId xmlns:a16="http://schemas.microsoft.com/office/drawing/2014/main" id="{097391D8-9FA6-878F-F39D-752D1E1DBF24}"/>
              </a:ext>
            </a:extLst>
          </p:cNvPr>
          <p:cNvSpPr txBox="1">
            <a:spLocks/>
          </p:cNvSpPr>
          <p:nvPr/>
        </p:nvSpPr>
        <p:spPr>
          <a:xfrm>
            <a:off x="315353" y="3583046"/>
            <a:ext cx="8519149" cy="1067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4999"/>
              </a:lnSpc>
            </a:pPr>
            <a:r>
              <a:rPr lang="en-GB" sz="1400">
                <a:latin typeface="Times New Roman"/>
                <a:cs typeface="Times New Roman"/>
              </a:rPr>
              <a:t>Base signal SB: white Gaussian noise (100–2000 Hz, FIR filtered).</a:t>
            </a:r>
            <a:endParaRPr lang="en-US" sz="1400"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</a:pPr>
            <a:r>
              <a:rPr lang="en-GB" sz="1400">
                <a:latin typeface="Times New Roman"/>
                <a:cs typeface="Times New Roman"/>
              </a:rPr>
              <a:t>Modulation: 5 Hz and 10 Hz (m = 0.5) → mimics real variations.</a:t>
            </a:r>
            <a:endParaRPr lang="en-US" sz="1400"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</a:pPr>
            <a:r>
              <a:rPr lang="en-GB" sz="1400">
                <a:latin typeface="Times New Roman"/>
                <a:cs typeface="Times New Roman"/>
              </a:rPr>
              <a:t>Tonal components: 1200 Hz / 1300 Hz → simulate machinery noise.</a:t>
            </a:r>
          </a:p>
        </p:txBody>
      </p:sp>
    </p:spTree>
    <p:extLst>
      <p:ext uri="{BB962C8B-B14F-4D97-AF65-F5344CB8AC3E}">
        <p14:creationId xmlns:p14="http://schemas.microsoft.com/office/powerpoint/2010/main" val="2478933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Hardware &amp; Software Requirements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Software Stack: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Programming Language: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Python 3.8+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Deep Learning Framework: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PyTorch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Signal Processing: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SciPy, NumPy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Environment: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Jupyter Notebook, Google Colab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Hardware Requirements: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Training: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High-performance GPU (NVIDIA RTX series or cloud equivalent like Google Colab T4/A100).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Deployment/Inference Testing: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Low-power edge computing devices (e.g., Raspberry Pi 4, NVIDIA Jetson Nano) to simulate sonar buoy environments.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" name="Google Shape;119;p23"/>
          <p:cNvGraphicFramePr/>
          <p:nvPr>
            <p:extLst>
              <p:ext uri="{D42A27DB-BD31-4B8C-83A1-F6EECF244321}">
                <p14:modId xmlns:p14="http://schemas.microsoft.com/office/powerpoint/2010/main" val="1838895113"/>
              </p:ext>
            </p:extLst>
          </p:nvPr>
        </p:nvGraphicFramePr>
        <p:xfrm>
          <a:off x="952550" y="1444100"/>
          <a:ext cx="7238900" cy="3169680"/>
        </p:xfrm>
        <a:graphic>
          <a:graphicData uri="http://schemas.openxmlformats.org/drawingml/2006/table">
            <a:tbl>
              <a:tblPr>
                <a:noFill/>
                <a:tableStyleId>{2AB51E5F-F104-4627-A16E-FEC4EA0412FA}</a:tableStyleId>
              </a:tblPr>
              <a:tblGrid>
                <a:gridCol w="206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2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2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5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 gridSpan="6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</a:rPr>
                        <a:t> - 2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</a:rPr>
                        <a:t>3 - 4</a:t>
                      </a:r>
                      <a:endParaRPr lang="en-GB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</a:rPr>
                        <a:t>5 - 6</a:t>
                      </a:r>
                      <a:endParaRPr lang="en-GB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</a:rPr>
                        <a:t>7 - 8</a:t>
                      </a:r>
                      <a:endParaRPr lang="en-GB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</a:rPr>
                        <a:t>9 - 10</a:t>
                      </a:r>
                      <a:endParaRPr lang="en-GB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</a:rPr>
                        <a:t>11 - 12</a:t>
                      </a:r>
                      <a:endParaRPr lang="en-GB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 Design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Implementation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&amp; Tuning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 Comparison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 Profiling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 Submission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0" name="Google Shape;12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>
                <a:latin typeface="Times New Roman"/>
                <a:ea typeface="Times New Roman"/>
                <a:cs typeface="Times New Roman"/>
              </a:rPr>
              <a:t>Progress</a:t>
            </a:r>
            <a:endParaRPr lang="en-GB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1" name="Google Shape;121;p23"/>
          <p:cNvSpPr/>
          <p:nvPr/>
        </p:nvSpPr>
        <p:spPr>
          <a:xfrm>
            <a:off x="3649475" y="2767475"/>
            <a:ext cx="1091400" cy="1269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23"/>
          <p:cNvSpPr/>
          <p:nvPr/>
        </p:nvSpPr>
        <p:spPr>
          <a:xfrm>
            <a:off x="4740750" y="3155950"/>
            <a:ext cx="924600" cy="1269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23"/>
          <p:cNvSpPr/>
          <p:nvPr/>
        </p:nvSpPr>
        <p:spPr>
          <a:xfrm>
            <a:off x="5182900" y="3549650"/>
            <a:ext cx="1574700" cy="1269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23"/>
          <p:cNvSpPr/>
          <p:nvPr/>
        </p:nvSpPr>
        <p:spPr>
          <a:xfrm>
            <a:off x="5754075" y="3956050"/>
            <a:ext cx="1574700" cy="1269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3"/>
          <p:cNvSpPr/>
          <p:nvPr/>
        </p:nvSpPr>
        <p:spPr>
          <a:xfrm>
            <a:off x="3015400" y="2378998"/>
            <a:ext cx="862800" cy="1269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3"/>
          <p:cNvSpPr/>
          <p:nvPr/>
        </p:nvSpPr>
        <p:spPr>
          <a:xfrm>
            <a:off x="7328650" y="4362450"/>
            <a:ext cx="862800" cy="1269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25;p23">
            <a:extLst>
              <a:ext uri="{FF2B5EF4-FFF2-40B4-BE49-F238E27FC236}">
                <a16:creationId xmlns:a16="http://schemas.microsoft.com/office/drawing/2014/main" id="{8391B8FD-010F-CDBE-8A20-96F888C065C6}"/>
              </a:ext>
            </a:extLst>
          </p:cNvPr>
          <p:cNvSpPr/>
          <p:nvPr/>
        </p:nvSpPr>
        <p:spPr>
          <a:xfrm>
            <a:off x="3218815" y="1119760"/>
            <a:ext cx="233182" cy="16564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22;p23">
            <a:extLst>
              <a:ext uri="{FF2B5EF4-FFF2-40B4-BE49-F238E27FC236}">
                <a16:creationId xmlns:a16="http://schemas.microsoft.com/office/drawing/2014/main" id="{2EFFBBF1-F4ED-31E7-8909-7AD4B180590C}"/>
              </a:ext>
            </a:extLst>
          </p:cNvPr>
          <p:cNvSpPr/>
          <p:nvPr/>
        </p:nvSpPr>
        <p:spPr>
          <a:xfrm>
            <a:off x="5292877" y="1131484"/>
            <a:ext cx="236863" cy="165645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FC9BC-96F4-5D66-FDD6-A77D5E6A76EF}"/>
              </a:ext>
            </a:extLst>
          </p:cNvPr>
          <p:cNvSpPr txBox="1"/>
          <p:nvPr/>
        </p:nvSpPr>
        <p:spPr>
          <a:xfrm>
            <a:off x="3582969" y="1062794"/>
            <a:ext cx="121048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Times New Roman"/>
                <a:cs typeface="Times New Roman"/>
              </a:rPr>
              <a:t>Completed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88825-36B3-4EEF-1DAB-C70DD207D8FB}"/>
              </a:ext>
            </a:extLst>
          </p:cNvPr>
          <p:cNvSpPr txBox="1"/>
          <p:nvPr/>
        </p:nvSpPr>
        <p:spPr>
          <a:xfrm>
            <a:off x="5675240" y="1053107"/>
            <a:ext cx="121048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In progress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Expected Outcomes &amp; Applications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Expected Outcomes: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High Accuracy Targets: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Significant reduction in DOA estimation error in the 0◦ –30◦ and 150◦ –180◦ end-fire zones.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Noise Robustness: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Stable performance even at low Signal-to-Noise Ratios (SNR).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Edge Suitability: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A lightweight model architecture with low latency, suitable for real-time inference without SVD bottlenecks.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Key Applications: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Autonomous Underwater Vehicles (AUVs) navigation.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Expendable passive sonar buoys.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Stealth naval surveillance systems.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4805" algn="l" rtl="0"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AutoNum type="arabicPeriod"/>
            </a:pPr>
            <a:r>
              <a:rPr lang="en-GB" u="sng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Kamal, Suraj &amp; Chandran, Satheesh &amp; M H, Supriya. (2021). Passive Shallow Water Automated Target Recognition using Deep Convolutional Bi directional Long Short Term Memory. Defence Science Journal. 71. 117-123. 10.14429/dsj.71.14929.</a:t>
            </a:r>
            <a:endParaRPr dirty="0">
              <a:solidFill>
                <a:schemeClr val="accent1">
                  <a:lumMod val="7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4805" algn="l" rtl="0"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AutoNum type="arabicPeriod"/>
            </a:pPr>
            <a:r>
              <a:rPr lang="en-GB" u="sng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Xie Y, Wang B. Direction-of-Arrival Estimation Method Based on Neural Network with Temporal Structure for Underwater Acoustic Vector Sensor Array. Sensors (Basel). 2023 May 19;23(10):4919. </a:t>
            </a:r>
            <a:r>
              <a:rPr lang="en-GB" u="sng" dirty="0" err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r>
              <a:rPr lang="en-GB" u="sng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10.3390/s23104919. PMID: 37430832; PMCID: PMC10222060.</a:t>
            </a:r>
            <a:endParaRPr lang="en-GB" u="sng" dirty="0">
              <a:solidFill>
                <a:schemeClr val="accent1">
                  <a:lumMod val="7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4805" algn="l" rtl="0"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AutoNum type="arabicPeriod"/>
            </a:pPr>
            <a:r>
              <a:rPr lang="en-GB" u="sng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Suraj Kamal, C. Satheesh Chandran, M.H. Supriya, Passive sonar automated target classifier for shallow waters using end-to-end learnable deep convolutional LSTMs, Engineering Science and Technology, an International Journal, Volume 24, Issue 4, 2021</a:t>
            </a:r>
          </a:p>
          <a:p>
            <a:pPr marL="457200" lvl="0" indent="-344805" algn="l" rtl="0"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AutoNum type="arabicPeriod"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4805" algn="l" rtl="0">
              <a:spcBef>
                <a:spcPts val="0"/>
              </a:spcBef>
              <a:spcAft>
                <a:spcPts val="0"/>
              </a:spcAft>
              <a:buSzPts val="1830"/>
              <a:buFont typeface="+mj-lt"/>
              <a:buAutoNum type="arabicPeriod" startAt="4"/>
            </a:pPr>
            <a:r>
              <a:rPr lang="en-IN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Ji, F.; Ni, J.; Li, G.; Liu, L.; Wang, Y. Underwater Acoustic Target Recognition Based on Deep Residual Attention Convolutional Neural Network. </a:t>
            </a:r>
            <a:r>
              <a:rPr lang="en-IN" b="0" i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J. Mar. Sci. Eng.</a:t>
            </a:r>
            <a:r>
              <a:rPr lang="en-IN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</a:t>
            </a:r>
            <a:r>
              <a:rPr lang="en-IN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</a:t>
            </a:r>
            <a:r>
              <a:rPr lang="en-IN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 </a:t>
            </a:r>
            <a:r>
              <a:rPr lang="en-IN" b="0" i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</a:t>
            </a:r>
            <a:r>
              <a:rPr lang="en-IN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1626.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4805" algn="l" rtl="0">
              <a:spcBef>
                <a:spcPts val="0"/>
              </a:spcBef>
              <a:spcAft>
                <a:spcPts val="0"/>
              </a:spcAft>
              <a:buSzPts val="1830"/>
              <a:buFont typeface="+mj-lt"/>
              <a:buAutoNum type="arabicPeriod" startAt="4"/>
            </a:pP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Underwater Acoustic Target Recognition in Passive Sonar Using Spectrogram and Modified </a:t>
            </a:r>
            <a:r>
              <a:rPr lang="en-US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MobileNet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Network Classifier. </a:t>
            </a:r>
            <a:r>
              <a:rPr lang="en-US" b="0" i="1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TechRxiv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 31 October 2023.</a:t>
            </a:r>
            <a:endParaRPr lang="en-US" b="0" i="0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4805" algn="l" rtl="0">
              <a:spcBef>
                <a:spcPts val="0"/>
              </a:spcBef>
              <a:spcAft>
                <a:spcPts val="0"/>
              </a:spcAft>
              <a:buSzPts val="1830"/>
              <a:buFont typeface="+mj-lt"/>
              <a:buAutoNum type="arabicPeriod" startAt="4"/>
            </a:pPr>
            <a:r>
              <a:rPr lang="en-US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Keyhani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</a:t>
            </a:r>
            <a:r>
              <a:rPr lang="en-US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Erfan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and </a:t>
            </a:r>
            <a:r>
              <a:rPr lang="en-US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Amini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</a:t>
            </a:r>
            <a:r>
              <a:rPr lang="en-US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Arash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Lightweight Neural Network Architecture for Passive Sonar Signal Classification.</a:t>
            </a:r>
            <a:endParaRPr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87123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5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Questions &amp; Discussion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1370</Words>
  <Application>Microsoft Office PowerPoint</Application>
  <PresentationFormat>On-screen Show (16:9)</PresentationFormat>
  <Paragraphs>147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Times New Roman</vt:lpstr>
      <vt:lpstr>Simple Light</vt:lpstr>
      <vt:lpstr>PowerPoint Presentation</vt:lpstr>
      <vt:lpstr>Index</vt:lpstr>
      <vt:lpstr>Introduction</vt:lpstr>
      <vt:lpstr>PowerPoint Presentation</vt:lpstr>
      <vt:lpstr>Problem Statement</vt:lpstr>
      <vt:lpstr>Objectives</vt:lpstr>
      <vt:lpstr>Scope</vt:lpstr>
      <vt:lpstr>Literature Review</vt:lpstr>
      <vt:lpstr>Literature Review</vt:lpstr>
      <vt:lpstr>Proposed Methodology</vt:lpstr>
      <vt:lpstr>Proposed Methodology</vt:lpstr>
      <vt:lpstr>Proposed Methodology</vt:lpstr>
      <vt:lpstr>Dataset</vt:lpstr>
      <vt:lpstr>Hardware &amp; Software Requirements</vt:lpstr>
      <vt:lpstr>Progress</vt:lpstr>
      <vt:lpstr>Expected Outcomes &amp; Applications</vt:lpstr>
      <vt:lpstr>References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Mohammad Akeeb</cp:lastModifiedBy>
  <cp:revision>314</cp:revision>
  <dcterms:modified xsi:type="dcterms:W3CDTF">2026-04-21T21:09:50Z</dcterms:modified>
</cp:coreProperties>
</file>